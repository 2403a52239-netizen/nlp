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9" r:id="rId1"/>
  </p:sldMasterIdLst>
  <p:notesMasterIdLst>
    <p:notesMasterId r:id="rId15"/>
  </p:notesMasterIdLst>
  <p:sldIdLst>
    <p:sldId id="256" r:id="rId2"/>
    <p:sldId id="257" r:id="rId3"/>
    <p:sldId id="266" r:id="rId4"/>
    <p:sldId id="259" r:id="rId5"/>
    <p:sldId id="268" r:id="rId6"/>
    <p:sldId id="271" r:id="rId7"/>
    <p:sldId id="261" r:id="rId8"/>
    <p:sldId id="260" r:id="rId9"/>
    <p:sldId id="273" r:id="rId10"/>
    <p:sldId id="275" r:id="rId11"/>
    <p:sldId id="263" r:id="rId12"/>
    <p:sldId id="264" r:id="rId13"/>
    <p:sldId id="262" r:id="rId14"/>
  </p:sldIdLst>
  <p:sldSz cx="14630400" cy="8229600"/>
  <p:notesSz cx="8229600" cy="14630400"/>
  <p:embeddedFontLst>
    <p:embeddedFont>
      <p:font typeface="Arial Rounded MT Bold" panose="020F0704030504030204" pitchFamily="34" charset="0"/>
      <p:regular r:id="rId16"/>
    </p:embeddedFont>
    <p:embeddedFont>
      <p:font typeface="Instrument Sans Medium" panose="020B0604020202020204" charset="0"/>
      <p:regular r:id="rId17"/>
    </p:embeddedFont>
    <p:embeddedFont>
      <p:font typeface="Instrument Sans Semi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saraganesh8@gmail.com" userId="f5d85253f6237fc1" providerId="LiveId" clId="{FA7C267E-72A6-4C27-930F-3E2AE9F13614}"/>
    <pc:docChg chg="modSld">
      <pc:chgData name="keesaraganesh8@gmail.com" userId="f5d85253f6237fc1" providerId="LiveId" clId="{FA7C267E-72A6-4C27-930F-3E2AE9F13614}" dt="2026-04-16T04:22:58.853" v="84" actId="20577"/>
      <pc:docMkLst>
        <pc:docMk/>
      </pc:docMkLst>
      <pc:sldChg chg="modSp mod">
        <pc:chgData name="keesaraganesh8@gmail.com" userId="f5d85253f6237fc1" providerId="LiveId" clId="{FA7C267E-72A6-4C27-930F-3E2AE9F13614}" dt="2026-04-16T04:22:58.853" v="84" actId="20577"/>
        <pc:sldMkLst>
          <pc:docMk/>
          <pc:sldMk cId="0" sldId="268"/>
        </pc:sldMkLst>
        <pc:spChg chg="mod">
          <ac:chgData name="keesaraganesh8@gmail.com" userId="f5d85253f6237fc1" providerId="LiveId" clId="{FA7C267E-72A6-4C27-930F-3E2AE9F13614}" dt="2026-04-16T04:22:58.853" v="84" actId="20577"/>
          <ac:spMkLst>
            <pc:docMk/>
            <pc:sldMk cId="0" sldId="26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008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5496-2613-ACE8-5400-464DF3DA6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FE700-7832-8A52-8631-9AF9F393F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B5D01-617A-5CC2-A0EA-8B4DDDAD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2077B-E65A-3200-2FE5-49453AAE8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DDED1-6FF0-A685-B6ED-6BCD9DA1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1835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FC44-38F2-D7FC-AFE9-2E6BE2589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282EB-7201-E7EB-9419-6164C9789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D9D34-4D24-7AA3-9824-353C84F9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6EBF9-0A3A-DCE8-F218-A025BFC9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2D4C6-5B4B-69AF-3128-0917357D5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80560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5035A-AF3C-C874-1A52-20F0A27A3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741BF-DA93-B725-63A9-869398979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A047-6502-F3E7-571F-39AAA091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5FD42-06D5-64FB-FE75-F4B893AC9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CEE7C-DD50-023F-2287-9150D804E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3734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5AE66-5107-6BF2-A870-AC81974F9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EE583-E061-D078-B709-80039F5CA5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931A8-2C82-B48E-2A02-C7E06D2C0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D28E7-600F-3D02-CBB2-E3B471FBA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EACD3-61EA-1BE9-5D7C-5FD9F7826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601DB-E0AA-804F-4EA9-B708EB6C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215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6906-5D7B-6126-CDD3-C03B8ED7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E137D-E9B8-FB31-E3E6-914CC84D4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75CEF-57FA-59DD-BC62-419FE525A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2028D0-04C8-E0D0-0FBB-0EE2AE1D1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DEBF6-BD1C-9229-C721-AB01A8764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7EAE2-1033-A7A3-D8D9-331431CF3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46184D-6005-A90E-FF79-9FEB772EA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7293F-40D2-A755-2E8D-C66216FE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388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F6398-B25E-8228-C19E-7482CF4DA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6203F0-C567-3ED2-0B57-A73BAD8A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3BA3C-0CC0-24DD-9F98-B7BB7C26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95D87A-16BD-8F02-9540-B79A134A0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32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3F9ED-6378-395A-1659-AAA04919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18E589-A24A-EF73-2C48-F0249DD60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2706A-57BA-2405-2D8A-3AA933CE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0749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F3BA-2705-2381-4275-EE0ED9615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B4CC9-07FD-D358-7242-1A10DBDD2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86C4B-F1CE-52B4-B4BD-68E09CF8D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5E625-9BC3-347F-4314-81628EC5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D7A6C-9663-D815-D6D0-B96A12D9C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350BF-6E1E-CF68-8DDF-43597555A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97129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7940C-C98D-546B-E746-2A034ED8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D7672C-A627-3224-34D3-63FA25FF4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7A208-D9FC-831A-F58E-DA113A401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FBA20-C3A2-DEAD-EB85-5A4553D87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E9ECB-E852-DD96-C5F0-16AFE8EB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9A56F-6900-BC78-41AC-1767E7557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0448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FE2D5-55EE-5978-2681-49048125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AB5FC-E93C-FD33-8115-582181CA4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D4177-8EEB-62A5-9A6F-16C40EAE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36577-C543-55B1-F3DD-85119A5F7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1C1B6-2382-25E8-E336-26C6C6CF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3779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B3D1D-B18A-8DB6-3A40-BA39E85C1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A7E93-ECB9-BC78-3067-961741D8A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DF5CB-44FC-7AFA-D188-F4FA5F61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C1F67-9B0D-109B-4F4B-C34C7FFEA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D5790-1C3B-C081-9622-5FD2536E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5957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546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848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575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66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E2CB74-E0CF-6566-7050-8CDD88157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62115-C089-BC61-2A44-BB748F098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65E59-7E24-4503-3A9A-6A010ADA2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8F116-88A2-1163-99AF-E1864D898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39374-0241-30F4-8D07-E0ED9F098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772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4" r:id="rId14"/>
    <p:sldLayoutId id="2147483725" r:id="rId15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 Grammar Correction &amp; Writing Optimization Tool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AI-powered assistant that detects errors, suggests style improvements, and gives real-time feedback—built for students, professionals, content creators, and educational platforms.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0741"/>
            <a:ext cx="4536519" cy="166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Team</a:t>
            </a:r>
            <a:endParaRPr lang="en-US" sz="35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C3A38C-966B-F3B3-506D-E5015DED0FC1}"/>
              </a:ext>
            </a:extLst>
          </p:cNvPr>
          <p:cNvSpPr txBox="1"/>
          <p:nvPr/>
        </p:nvSpPr>
        <p:spPr>
          <a:xfrm>
            <a:off x="3473287" y="2360474"/>
            <a:ext cx="37140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2403A52239</a:t>
            </a:r>
          </a:p>
          <a:p>
            <a:r>
              <a:rPr lang="en-IN" sz="3600" dirty="0"/>
              <a:t>2403A52254</a:t>
            </a:r>
          </a:p>
          <a:p>
            <a:r>
              <a:rPr lang="en-IN" sz="3600" dirty="0"/>
              <a:t>2403A52242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680"/>
              </a:spcAft>
            </a:pPr>
            <a:r>
              <a:rPr sz="3000" dirty="0"/>
              <a:t>Manual proofreading is time-consuming and prone to human oversight.</a:t>
            </a:r>
          </a:p>
          <a:p>
            <a:pPr>
              <a:spcAft>
                <a:spcPts val="1680"/>
              </a:spcAft>
            </a:pPr>
            <a:r>
              <a:rPr sz="3000" dirty="0"/>
              <a:t>Grammatical errors in professional communication lead to loss of credibility.</a:t>
            </a:r>
          </a:p>
          <a:p>
            <a:pPr>
              <a:spcAft>
                <a:spcPts val="1680"/>
              </a:spcAft>
            </a:pPr>
            <a:r>
              <a:rPr sz="3000" dirty="0"/>
              <a:t>Non-native speakers face linguistic barriers in formal writing.</a:t>
            </a:r>
          </a:p>
          <a:p>
            <a:pPr>
              <a:spcAft>
                <a:spcPts val="1680"/>
              </a:spcAft>
            </a:pPr>
            <a:r>
              <a:rPr sz="3000" dirty="0"/>
              <a:t>Existing premium tools are often expensive and act as 'black boxes'.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583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Stakeholders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16436"/>
            <a:ext cx="1341120" cy="828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028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Students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519136"/>
            <a:ext cx="304800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Improve essays, assignments, and reports with clear explanations of errors and revision suggestions.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916436"/>
            <a:ext cx="1341120" cy="828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028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Professionals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4519136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Polish emails, proposals, and presentations to ensure clarity and professional tone.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916436"/>
            <a:ext cx="1341120" cy="8287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028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Content Creators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4519136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Produce cleaner articles and posts faster with style tips and headline suggestions.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916436"/>
            <a:ext cx="1341120" cy="8287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028718"/>
            <a:ext cx="29488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Educational Platforms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451913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Embed writing assistance into LMS to boost student outcomes and reduce instructor marking load.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and Model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680"/>
              </a:spcAft>
            </a:pPr>
            <a:r>
              <a:rPr sz="3000" dirty="0"/>
              <a:t>Datasets: </a:t>
            </a:r>
            <a:r>
              <a:rPr lang="en-IN" sz="3000" dirty="0"/>
              <a:t>from </a:t>
            </a:r>
            <a:r>
              <a:rPr lang="en-IN" sz="3000" dirty="0" err="1"/>
              <a:t>kaggle</a:t>
            </a:r>
            <a:endParaRPr sz="3000" dirty="0"/>
          </a:p>
          <a:p>
            <a:pPr>
              <a:spcAft>
                <a:spcPts val="1680"/>
              </a:spcAft>
            </a:pPr>
            <a:r>
              <a:rPr sz="3000" dirty="0"/>
              <a:t>Hybrid Engine: Combines Statistical N-grams with Rule-Based Logic.</a:t>
            </a:r>
          </a:p>
          <a:p>
            <a:pPr>
              <a:spcAft>
                <a:spcPts val="1680"/>
              </a:spcAft>
            </a:pPr>
            <a:r>
              <a:rPr sz="3000" dirty="0"/>
              <a:t>POS Tagging: Deep morphological analysis to identify nouns, verbs, etc.</a:t>
            </a:r>
          </a:p>
          <a:p>
            <a:pPr>
              <a:spcAft>
                <a:spcPts val="1680"/>
              </a:spcAft>
            </a:pPr>
            <a:r>
              <a:rPr sz="3000" dirty="0"/>
              <a:t>Flask Integration: Real-time processing through a Python backend.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680"/>
              </a:spcAft>
            </a:pPr>
            <a:r>
              <a:rPr sz="3000" dirty="0"/>
              <a:t>Speed: Real-time response (&lt; 1.5 seconds).</a:t>
            </a:r>
          </a:p>
          <a:p>
            <a:pPr>
              <a:spcAft>
                <a:spcPts val="1680"/>
              </a:spcAft>
            </a:pPr>
            <a:r>
              <a:rPr sz="3000" dirty="0"/>
              <a:t>Accuracy: High precision in catching subject-verb agreement and typos.</a:t>
            </a:r>
          </a:p>
          <a:p>
            <a:pPr>
              <a:spcAft>
                <a:spcPts val="1680"/>
              </a:spcAft>
            </a:pPr>
            <a:r>
              <a:rPr sz="3000" dirty="0"/>
              <a:t>Educational Value: Provides detailed linguistic explanations for every correction.</a:t>
            </a:r>
          </a:p>
          <a:p>
            <a:pPr>
              <a:spcAft>
                <a:spcPts val="1680"/>
              </a:spcAft>
            </a:pPr>
            <a:r>
              <a:rPr sz="3000" dirty="0"/>
              <a:t>Usability: Dual-pane interface for instant comparison.</a:t>
            </a:r>
          </a:p>
        </p:txBody>
      </p:sp>
    </p:spTree>
    <p:extLst>
      <p:ext uri="{BB962C8B-B14F-4D97-AF65-F5344CB8AC3E}">
        <p14:creationId xmlns:p14="http://schemas.microsoft.com/office/powerpoint/2010/main" val="1742216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(Cloud Hosted)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680"/>
              </a:spcAft>
            </a:pPr>
            <a:r>
              <a:rPr sz="3000" dirty="0"/>
              <a:t>Tech Stack: Python, Flask, HTML5, CSS3.</a:t>
            </a:r>
          </a:p>
          <a:p>
            <a:pPr>
              <a:spcAft>
                <a:spcPts val="1680"/>
              </a:spcAft>
            </a:pPr>
            <a:r>
              <a:rPr sz="3000" dirty="0"/>
              <a:t>Architecture: Client-Server model optimized for web deployment.</a:t>
            </a:r>
          </a:p>
          <a:p>
            <a:pPr>
              <a:spcAft>
                <a:spcPts val="1680"/>
              </a:spcAft>
            </a:pPr>
            <a:r>
              <a:rPr sz="3000" dirty="0"/>
              <a:t>Cloud Ready: Compatible with AWS, Heroku, and Azure environments.</a:t>
            </a:r>
          </a:p>
          <a:p>
            <a:pPr>
              <a:spcAft>
                <a:spcPts val="1680"/>
              </a:spcAft>
            </a:pPr>
            <a:r>
              <a:rPr sz="3000" dirty="0"/>
              <a:t>Scalable: Lightweight backend capable of handling multiple requests.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48670"/>
            <a:ext cx="87409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Technology Stack — Frontend &amp; Backend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47826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363766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HTML, CSS, JavaScript (responsive UI, Flask templates)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Accessible design for students and screen readers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47826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99521" y="5363766"/>
            <a:ext cx="62447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Python + Flask for API endpoints and web serving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Language processing via language_tool_python (public API)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680"/>
              </a:spcAft>
            </a:pPr>
            <a:r>
              <a:rPr sz="3000" dirty="0"/>
              <a:t>Developed a robust alternative to premium writing software.</a:t>
            </a:r>
          </a:p>
          <a:p>
            <a:pPr>
              <a:spcAft>
                <a:spcPts val="1680"/>
              </a:spcAft>
            </a:pPr>
            <a:r>
              <a:rPr sz="3000" dirty="0"/>
              <a:t>Successfully integrated complex NLP logic into a user-friendly web app.</a:t>
            </a:r>
          </a:p>
          <a:p>
            <a:pPr>
              <a:spcAft>
                <a:spcPts val="1680"/>
              </a:spcAft>
            </a:pPr>
            <a:r>
              <a:rPr sz="3000" dirty="0"/>
              <a:t>Future Scope: Adding 'Style Tone' detection and Browser Extension development.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680"/>
              </a:spcAft>
            </a:pPr>
            <a:r>
              <a:rPr sz="3000" dirty="0"/>
              <a:t>Naber, D. (2003). 'A Rule-Based Style and Grammar Checker' (</a:t>
            </a:r>
            <a:r>
              <a:rPr sz="3000" dirty="0" err="1"/>
              <a:t>LanguageTool</a:t>
            </a:r>
            <a:r>
              <a:rPr sz="3000" dirty="0"/>
              <a:t>).</a:t>
            </a:r>
          </a:p>
          <a:p>
            <a:pPr>
              <a:spcAft>
                <a:spcPts val="1680"/>
              </a:spcAft>
            </a:pPr>
            <a:r>
              <a:rPr sz="3000" dirty="0"/>
              <a:t>Napoles, C., et al. (2017). 'There’s No Comparison: Reference-less Evaluation Metrics for GEC.'</a:t>
            </a:r>
          </a:p>
          <a:p>
            <a:pPr>
              <a:spcAft>
                <a:spcPts val="1680"/>
              </a:spcAft>
            </a:pPr>
            <a:r>
              <a:rPr sz="3000" dirty="0"/>
              <a:t>Vaswani, A., et al. (2017). 'Attention Is All You Need' (Transformer Models).</a:t>
            </a:r>
          </a:p>
          <a:p>
            <a:pPr>
              <a:spcAft>
                <a:spcPts val="1680"/>
              </a:spcAft>
            </a:pPr>
            <a:r>
              <a:rPr sz="3000" dirty="0"/>
              <a:t>Flask Framework Documentation (2026).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38E189-9E13-65C2-D060-F4CD7635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903" y="424861"/>
            <a:ext cx="9802593" cy="733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590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8883B8-2231-DFEF-FDE7-AD8638B02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509" y="1347401"/>
            <a:ext cx="9183382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7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447DB8-ED94-B8F4-AECB-141740CAC4AF}"/>
              </a:ext>
            </a:extLst>
          </p:cNvPr>
          <p:cNvSpPr txBox="1"/>
          <p:nvPr/>
        </p:nvSpPr>
        <p:spPr>
          <a:xfrm>
            <a:off x="3724507" y="2709747"/>
            <a:ext cx="80547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i="1" dirty="0">
                <a:latin typeface="Arial Rounded MT Bold" panose="020F0704030504030204" pitchFamily="34" charset="0"/>
              </a:rPr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2975455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Words>431</Words>
  <Application>Microsoft Office PowerPoint</Application>
  <PresentationFormat>Custom</PresentationFormat>
  <Paragraphs>62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 Rounded MT Bold</vt:lpstr>
      <vt:lpstr>Aptos Display</vt:lpstr>
      <vt:lpstr>Instrument Sans Semi Bold</vt:lpstr>
      <vt:lpstr>Arial</vt:lpstr>
      <vt:lpstr>Instrument Sans Medium</vt:lpstr>
      <vt:lpstr>Aptos</vt:lpstr>
      <vt:lpstr>Office Theme</vt:lpstr>
      <vt:lpstr>PowerPoint Presentation</vt:lpstr>
      <vt:lpstr>PowerPoint Presentation</vt:lpstr>
      <vt:lpstr>Problem Statement</vt:lpstr>
      <vt:lpstr>PowerPoint Presentation</vt:lpstr>
      <vt:lpstr>Dataset and Model Discussion</vt:lpstr>
      <vt:lpstr>Results</vt:lpstr>
      <vt:lpstr>Application (Cloud Hosted)</vt:lpstr>
      <vt:lpstr>PowerPoint Presentation</vt:lpstr>
      <vt:lpstr>Conclusion</vt:lpstr>
      <vt:lpstr>References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keesaraganesh8@gmail.com</cp:lastModifiedBy>
  <cp:revision>7</cp:revision>
  <dcterms:created xsi:type="dcterms:W3CDTF">2026-02-18T15:45:28Z</dcterms:created>
  <dcterms:modified xsi:type="dcterms:W3CDTF">2026-04-16T04:23:08Z</dcterms:modified>
</cp:coreProperties>
</file>